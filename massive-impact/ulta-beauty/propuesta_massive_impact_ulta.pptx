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0818"/>
        </a:solidFill>
        <a:effectLst/>
      </p:bgPr>
    </p:bg>
    <p:spTree>
      <p:nvGrpSpPr>
        <p:cNvPr id="1" name=""/>
        <p:cNvGrpSpPr/>
        <p:nvPr/>
      </p:nvGrpSpPr>
      <p:grpSpPr/>
      <p:sp>
        <p:nvSpPr>
          <p:cNvPr id="2" name="TextBox 1"/>
          <p:cNvSpPr txBox="1"/>
          <p:nvPr/>
        </p:nvSpPr>
        <p:spPr>
          <a:xfrm>
            <a:off x="731520" y="1645920"/>
            <a:ext cx="10698480" cy="457200"/>
          </a:xfrm>
          <a:prstGeom prst="rect">
            <a:avLst/>
          </a:prstGeom>
          <a:noFill/>
        </p:spPr>
        <p:txBody>
          <a:bodyPr wrap="none">
            <a:spAutoFit/>
          </a:bodyPr>
          <a:lstStyle/>
          <a:p>
            <a:pPr>
              <a:defRPr sz="1100" b="1">
                <a:solidFill>
                  <a:srgbClr val="E8006A"/>
                </a:solidFill>
                <a:latin typeface="Consolas"/>
              </a:defRPr>
            </a:pPr>
            <a:r>
              <a:t>PROPUESTA DE CAMPAÑA · CONFIDENCIAL · JULIO 2026</a:t>
            </a:r>
          </a:p>
        </p:txBody>
      </p:sp>
      <p:sp>
        <p:nvSpPr>
          <p:cNvPr id="3" name="TextBox 2"/>
          <p:cNvSpPr txBox="1"/>
          <p:nvPr/>
        </p:nvSpPr>
        <p:spPr>
          <a:xfrm>
            <a:off x="731520" y="2194560"/>
            <a:ext cx="10698480" cy="1828800"/>
          </a:xfrm>
          <a:prstGeom prst="rect">
            <a:avLst/>
          </a:prstGeom>
          <a:noFill/>
        </p:spPr>
        <p:txBody>
          <a:bodyPr wrap="square">
            <a:spAutoFit/>
          </a:bodyPr>
          <a:lstStyle/>
          <a:p>
            <a:pPr>
              <a:defRPr sz="5400" b="1">
                <a:solidFill>
                  <a:srgbClr val="FFFFFF"/>
                </a:solidFill>
                <a:latin typeface="Arial"/>
              </a:defRPr>
            </a:pPr>
            <a:r>
              <a:t>No es volumen plano.</a:t>
            </a:r>
            <a:br/>
            <a:r>
              <a:t>Es </a:t>
            </a:r>
            <a:r>
              <a:rPr>
                <a:solidFill>
                  <a:srgbClr val="E8006A"/>
                </a:solidFill>
              </a:rPr>
              <a:t>tráfico offline</a:t>
            </a:r>
            <a:r>
              <a:rPr>
                <a:solidFill>
                  <a:srgbClr val="FFFFFF"/>
                </a:solidFill>
              </a:rPr>
              <a:t> calificado.</a:t>
            </a:r>
          </a:p>
        </p:txBody>
      </p:sp>
      <p:sp>
        <p:nvSpPr>
          <p:cNvPr id="4" name="TextBox 3"/>
          <p:cNvSpPr txBox="1"/>
          <p:nvPr/>
        </p:nvSpPr>
        <p:spPr>
          <a:xfrm>
            <a:off x="731520" y="4114800"/>
            <a:ext cx="9144000" cy="1097280"/>
          </a:xfrm>
          <a:prstGeom prst="rect">
            <a:avLst/>
          </a:prstGeom>
          <a:noFill/>
        </p:spPr>
        <p:txBody>
          <a:bodyPr wrap="square">
            <a:spAutoFit/>
          </a:bodyPr>
          <a:lstStyle/>
          <a:p>
            <a:pPr>
              <a:defRPr sz="1800">
                <a:solidFill>
                  <a:srgbClr val="DCDCDC"/>
                </a:solidFill>
                <a:latin typeface="Calibri"/>
              </a:defRPr>
            </a:pPr>
            <a:r>
              <a:t>Estrategia de atribución físico-digital para Ulta Beauty. Concentramos la pauta en generar frecuencia, retargeting dinámico y visitas reales en sucursales clave mediante geofencing quirúrgico. Si se puede medir en tienda, importa.</a:t>
            </a:r>
          </a:p>
        </p:txBody>
      </p:sp>
      <p:sp>
        <p:nvSpPr>
          <p:cNvPr id="5" name="TextBox 4"/>
          <p:cNvSpPr txBox="1"/>
          <p:nvPr/>
        </p:nvSpPr>
        <p:spPr>
          <a:xfrm>
            <a:off x="731520" y="5486400"/>
            <a:ext cx="10698480" cy="457200"/>
          </a:xfrm>
          <a:prstGeom prst="rect">
            <a:avLst/>
          </a:prstGeom>
          <a:noFill/>
        </p:spPr>
        <p:txBody>
          <a:bodyPr wrap="none">
            <a:spAutoFit/>
          </a:bodyPr>
          <a:lstStyle/>
          <a:p>
            <a:pPr>
              <a:defRPr sz="1000">
                <a:solidFill>
                  <a:srgbClr val="FF4DB8"/>
                </a:solidFill>
                <a:latin typeface="Consolas"/>
              </a:defRPr>
            </a:pPr>
            <a:r>
              <a:t>Ulta Beauty × Massive Impact   |   Publicidad de Precisión. Resultados Reales.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C40059"/>
                </a:solidFill>
                <a:latin typeface="Consolas"/>
              </a:defRPr>
            </a:pPr>
            <a:r>
              <a:t>01 · ENFOQUE ESTRATÉGICO</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1A0E26"/>
                </a:solidFill>
                <a:latin typeface="Arial"/>
              </a:defRPr>
            </a:pPr>
            <a:r>
              <a:t>Precisión vs. Dilución: Frecuencia y Densidad en Sucursales.</a:t>
            </a:r>
          </a:p>
        </p:txBody>
      </p:sp>
      <p:sp>
        <p:nvSpPr>
          <p:cNvPr id="4" name="TextBox 3"/>
          <p:cNvSpPr txBox="1"/>
          <p:nvPr/>
        </p:nvSpPr>
        <p:spPr>
          <a:xfrm>
            <a:off x="731520" y="1463040"/>
            <a:ext cx="10698480" cy="731520"/>
          </a:xfrm>
          <a:prstGeom prst="rect">
            <a:avLst/>
          </a:prstGeom>
          <a:noFill/>
        </p:spPr>
        <p:txBody>
          <a:bodyPr wrap="square">
            <a:spAutoFit/>
          </a:bodyPr>
          <a:lstStyle/>
          <a:p>
            <a:pPr>
              <a:defRPr sz="1500">
                <a:solidFill>
                  <a:srgbClr val="4A3D57"/>
                </a:solidFill>
                <a:latin typeface="Calibri"/>
              </a:defRPr>
            </a:pPr>
            <a:r>
              <a:t>Dividir el presupuesto equitativamente entre múltiples tiendas diluye el impacto. Proponemos restringir la campaña a un máximo de 3 plazas clave (ej. Antara CDMX, Galerías Guadalajara y Plaza Satélite) para concentrar la frecuencia y mover la aguja en piso de venta.</a:t>
            </a:r>
          </a:p>
        </p:txBody>
      </p:sp>
      <p:sp>
        <p:nvSpPr>
          <p:cNvPr id="5" name="Rounded Rectangle 4"/>
          <p:cNvSpPr/>
          <p:nvPr/>
        </p:nvSpPr>
        <p:spPr>
          <a:xfrm>
            <a:off x="731520" y="2377440"/>
            <a:ext cx="5120640" cy="3840480"/>
          </a:xfrm>
          <a:prstGeom prst="roundRect">
            <a:avLst/>
          </a:prstGeom>
          <a:solidFill>
            <a:srgbClr val="FFFFFF"/>
          </a:solidFill>
          <a:ln w="19050">
            <a:solidFill>
              <a:srgbClr val="E2D6E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100" b="1">
                <a:solidFill>
                  <a:srgbClr val="C40059"/>
                </a:solidFill>
                <a:latin typeface="Consolas"/>
              </a:defRPr>
            </a:pPr>
            <a:r>
              <a:t>ESCENARIO A</a:t>
            </a:r>
          </a:p>
          <a:p>
            <a:pPr>
              <a:spcBef>
                <a:spcPts val="800"/>
              </a:spcBef>
              <a:spcAft>
                <a:spcPts val="1200"/>
              </a:spcAft>
              <a:defRPr sz="2000" b="1">
                <a:solidFill>
                  <a:srgbClr val="1A0E26"/>
                </a:solidFill>
                <a:latin typeface="Arial"/>
              </a:defRPr>
            </a:pPr>
            <a:r>
              <a:t>Optimización de Precisión</a:t>
            </a:r>
          </a:p>
          <a:p>
            <a:pPr>
              <a:spcAft>
                <a:spcPts val="1600"/>
              </a:spcAft>
              <a:defRPr sz="1350">
                <a:solidFill>
                  <a:srgbClr val="4A3D57"/>
                </a:solidFill>
                <a:latin typeface="Calibri"/>
              </a:defRPr>
            </a:pPr>
            <a:r>
              <a:t>Presupuesto: $120,000 MXN / Mes</a:t>
            </a:r>
            <a:br/>
            <a:br/>
            <a:r>
              <a:t>• Alcance: Concentración en 3 plazas clave.</a:t>
            </a:r>
            <a:br/>
            <a:r>
              <a:t>• Attention+ (60% - $72K): 257,143 Impresiones.</a:t>
            </a:r>
            <a:br/>
            <a:r>
              <a:t>• OLV (40% - $48K): 160,000 Impresiones.</a:t>
            </a:r>
          </a:p>
          <a:p>
            <a:pPr>
              <a:defRPr sz="1050" b="1">
                <a:solidFill>
                  <a:srgbClr val="C40059"/>
                </a:solidFill>
                <a:latin typeface="Consolas"/>
              </a:defRPr>
            </a:pPr>
            <a:r>
              <a:t>TOTAL: 417,143 IMPRESIONES QUIRÚRGICAS</a:t>
            </a:r>
          </a:p>
        </p:txBody>
      </p:sp>
      <p:sp>
        <p:nvSpPr>
          <p:cNvPr id="6" name="Rounded Rectangle 5"/>
          <p:cNvSpPr/>
          <p:nvPr/>
        </p:nvSpPr>
        <p:spPr>
          <a:xfrm>
            <a:off x="6309360" y="2377440"/>
            <a:ext cx="5120640" cy="3840480"/>
          </a:xfrm>
          <a:prstGeom prst="roundRect">
            <a:avLst/>
          </a:prstGeom>
          <a:solidFill>
            <a:srgbClr val="FFFFFF"/>
          </a:solidFill>
          <a:ln w="2540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100" b="1">
                <a:solidFill>
                  <a:srgbClr val="FF4DB8"/>
                </a:solidFill>
                <a:latin typeface="Consolas"/>
              </a:defRPr>
            </a:pPr>
            <a:r>
              <a:t>ESCENARIO B (RECOMENDADO)</a:t>
            </a:r>
          </a:p>
          <a:p>
            <a:pPr>
              <a:spcBef>
                <a:spcPts val="800"/>
              </a:spcBef>
              <a:spcAft>
                <a:spcPts val="1200"/>
              </a:spcAft>
              <a:defRPr sz="2000" b="1">
                <a:solidFill>
                  <a:srgbClr val="1A0E26"/>
                </a:solidFill>
                <a:latin typeface="Arial"/>
              </a:defRPr>
            </a:pPr>
            <a:r>
              <a:t>Cobertura Total y Escala</a:t>
            </a:r>
          </a:p>
          <a:p>
            <a:pPr>
              <a:spcAft>
                <a:spcPts val="1600"/>
              </a:spcAft>
              <a:defRPr sz="1350">
                <a:solidFill>
                  <a:srgbClr val="4A3D57"/>
                </a:solidFill>
                <a:latin typeface="Calibri"/>
              </a:defRPr>
            </a:pPr>
            <a:r>
              <a:t>Presupuesto: $300,000 MXN / Mes</a:t>
            </a:r>
            <a:br/>
            <a:br/>
            <a:r>
              <a:t>• Alcance: Frecuencia dominante y CTV sobre las mismas 3 plazas.</a:t>
            </a:r>
            <a:br/>
            <a:r>
              <a:t>• Attention+ (50% - $150K): 535,714 Impresiones.</a:t>
            </a:r>
            <a:br/>
            <a:r>
              <a:t>• OLV (30% - $90K): 300,000 Impresiones.</a:t>
            </a:r>
            <a:br/>
            <a:r>
              <a:t>• CTV (20% - $60K): 82,192 Impresiones.</a:t>
            </a:r>
          </a:p>
          <a:p>
            <a:pPr>
              <a:defRPr sz="1050" b="1">
                <a:solidFill>
                  <a:srgbClr val="C40059"/>
                </a:solidFill>
                <a:latin typeface="Consolas"/>
              </a:defRPr>
            </a:pPr>
            <a:r>
              <a:t>TOTAL: 917,906 IMPRESIONES PREMIUM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C40059"/>
                </a:solidFill>
                <a:latin typeface="Consolas"/>
              </a:defRPr>
            </a:pPr>
            <a:r>
              <a:t>02 · CANALES Y FORMATOS</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1A0E26"/>
                </a:solidFill>
                <a:latin typeface="Arial"/>
              </a:defRPr>
            </a:pPr>
            <a:r>
              <a:t>Attention+, OLV y CTV con una sola misión.</a:t>
            </a:r>
          </a:p>
        </p:txBody>
      </p:sp>
      <p:sp>
        <p:nvSpPr>
          <p:cNvPr id="4" name="TextBox 3"/>
          <p:cNvSpPr txBox="1"/>
          <p:nvPr/>
        </p:nvSpPr>
        <p:spPr>
          <a:xfrm>
            <a:off x="731520" y="1371600"/>
            <a:ext cx="10698480" cy="548640"/>
          </a:xfrm>
          <a:prstGeom prst="rect">
            <a:avLst/>
          </a:prstGeom>
          <a:noFill/>
        </p:spPr>
        <p:txBody>
          <a:bodyPr wrap="none">
            <a:spAutoFit/>
          </a:bodyPr>
          <a:lstStyle/>
          <a:p>
            <a:pPr>
              <a:defRPr sz="1500">
                <a:solidFill>
                  <a:srgbClr val="4A3D57"/>
                </a:solidFill>
                <a:latin typeface="Calibri"/>
              </a:defRPr>
            </a:pPr>
            <a:r>
              <a:t>Concentramos el presupuesto en formatos interactivos premium diseñados para capturar la atención en lugar de banners estáticos.</a:t>
            </a:r>
          </a:p>
        </p:txBody>
      </p:sp>
      <p:sp>
        <p:nvSpPr>
          <p:cNvPr id="5" name="Rounded Rectangle 4"/>
          <p:cNvSpPr/>
          <p:nvPr/>
        </p:nvSpPr>
        <p:spPr>
          <a:xfrm>
            <a:off x="731520" y="2103120"/>
            <a:ext cx="3328416" cy="3931920"/>
          </a:xfrm>
          <a:prstGeom prst="roundRect">
            <a:avLst/>
          </a:prstGeom>
          <a:solidFill>
            <a:srgbClr val="FFFFFF"/>
          </a:solidFill>
          <a:ln w="19050">
            <a:solidFill>
              <a:srgbClr val="E2D6E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50" b="1">
                <a:solidFill>
                  <a:srgbClr val="C40059"/>
                </a:solidFill>
                <a:latin typeface="Consolas"/>
              </a:defRPr>
            </a:pPr>
            <a:r>
              <a:t>SOCIAL EXTENSION MOBILE</a:t>
            </a:r>
          </a:p>
          <a:p>
            <a:pPr>
              <a:spcBef>
                <a:spcPts val="800"/>
              </a:spcBef>
              <a:spcAft>
                <a:spcPts val="1200"/>
              </a:spcAft>
              <a:defRPr sz="2200" b="1">
                <a:solidFill>
                  <a:srgbClr val="1A0E26"/>
                </a:solidFill>
                <a:latin typeface="Arial"/>
              </a:defRPr>
            </a:pPr>
            <a:r>
              <a:t>Attention+</a:t>
            </a:r>
          </a:p>
          <a:p>
            <a:pPr>
              <a:lnSpc>
                <a:spcPct val="125000"/>
              </a:lnSpc>
              <a:defRPr sz="1300">
                <a:solidFill>
                  <a:srgbClr val="4A3D57"/>
                </a:solidFill>
                <a:latin typeface="Calibri"/>
              </a:defRPr>
            </a:pPr>
            <a:r>
              <a:t>Reutiliza los videos orgánicos más exitosos de Ulta en redes sociales y los amplifica en pantalla completa en el Open Web para capturar intención de compra activa.</a:t>
            </a:r>
          </a:p>
        </p:txBody>
      </p:sp>
      <p:sp>
        <p:nvSpPr>
          <p:cNvPr id="6" name="Rounded Rectangle 5"/>
          <p:cNvSpPr/>
          <p:nvPr/>
        </p:nvSpPr>
        <p:spPr>
          <a:xfrm>
            <a:off x="4425696" y="2103120"/>
            <a:ext cx="3328416" cy="3931920"/>
          </a:xfrm>
          <a:prstGeom prst="roundRect">
            <a:avLst/>
          </a:prstGeom>
          <a:solidFill>
            <a:srgbClr val="FFFFFF"/>
          </a:solidFill>
          <a:ln w="19050">
            <a:solidFill>
              <a:srgbClr val="E2D6E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50" b="1">
                <a:solidFill>
                  <a:srgbClr val="1A0E26"/>
                </a:solidFill>
                <a:latin typeface="Consolas"/>
              </a:defRPr>
            </a:pPr>
            <a:r>
              <a:t>CONSIDERACIÓN CONTEXTUAL</a:t>
            </a:r>
          </a:p>
          <a:p>
            <a:pPr>
              <a:spcBef>
                <a:spcPts val="800"/>
              </a:spcBef>
              <a:spcAft>
                <a:spcPts val="1200"/>
              </a:spcAft>
              <a:defRPr sz="2200" b="1">
                <a:solidFill>
                  <a:srgbClr val="1A0E26"/>
                </a:solidFill>
                <a:latin typeface="Arial"/>
              </a:defRPr>
            </a:pPr>
            <a:r>
              <a:t>Online Video (OLV)</a:t>
            </a:r>
          </a:p>
          <a:p>
            <a:pPr>
              <a:lnSpc>
                <a:spcPct val="125000"/>
              </a:lnSpc>
              <a:defRPr sz="1300">
                <a:solidFill>
                  <a:srgbClr val="4A3D57"/>
                </a:solidFill>
                <a:latin typeface="Calibri"/>
              </a:defRPr>
            </a:pPr>
            <a:r>
              <a:t>Comerciales pre-roll interactivos desplegados en portales premium contextuales de belleza, moda, tendencias y estilo de vida premium.</a:t>
            </a:r>
          </a:p>
        </p:txBody>
      </p:sp>
      <p:sp>
        <p:nvSpPr>
          <p:cNvPr id="7" name="Rounded Rectangle 6"/>
          <p:cNvSpPr/>
          <p:nvPr/>
        </p:nvSpPr>
        <p:spPr>
          <a:xfrm>
            <a:off x="8119872" y="2103120"/>
            <a:ext cx="3328416" cy="3931920"/>
          </a:xfrm>
          <a:prstGeom prst="roundRect">
            <a:avLst/>
          </a:prstGeom>
          <a:solidFill>
            <a:srgbClr val="FFFFFF"/>
          </a:solidFill>
          <a:ln w="19050">
            <a:solidFill>
              <a:srgbClr val="E2D6EC"/>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950" b="1">
                <a:solidFill>
                  <a:srgbClr val="FF4DB8"/>
                </a:solidFill>
                <a:latin typeface="Consolas"/>
              </a:defRPr>
            </a:pPr>
            <a:r>
              <a:t>IMPACTO MULTIPLATAFORMA</a:t>
            </a:r>
          </a:p>
          <a:p>
            <a:pPr>
              <a:spcBef>
                <a:spcPts val="800"/>
              </a:spcBef>
              <a:spcAft>
                <a:spcPts val="1200"/>
              </a:spcAft>
              <a:defRPr sz="2200" b="1">
                <a:solidFill>
                  <a:srgbClr val="1A0E26"/>
                </a:solidFill>
                <a:latin typeface="Arial"/>
              </a:defRPr>
            </a:pPr>
            <a:r>
              <a:t>Connected TV (CTV)</a:t>
            </a:r>
          </a:p>
          <a:p>
            <a:pPr>
              <a:lnSpc>
                <a:spcPct val="125000"/>
              </a:lnSpc>
              <a:defRPr sz="1300">
                <a:solidFill>
                  <a:srgbClr val="4A3D57"/>
                </a:solidFill>
                <a:latin typeface="Calibri"/>
              </a:defRPr>
            </a:pPr>
            <a:r>
              <a:t>Pantalla grande en el hogar (Smart TVs, consolas y dispositivos de streaming) para generar alta recordación visual y sonora (disponible en Escenario 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0818"/>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E8006A"/>
                </a:solidFill>
                <a:latin typeface="Consolas"/>
              </a:defRPr>
            </a:pPr>
            <a:r>
              <a:t>03 · ECOSISTEMA DE ATRIBUCIÓN</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FFFFFF"/>
                </a:solidFill>
                <a:latin typeface="Arial"/>
              </a:defRPr>
            </a:pPr>
            <a:r>
              <a:t>El Journey del Impacto: Rastreo de 5 Fases.</a:t>
            </a:r>
          </a:p>
        </p:txBody>
      </p:sp>
      <p:sp>
        <p:nvSpPr>
          <p:cNvPr id="4" name="TextBox 3"/>
          <p:cNvSpPr txBox="1"/>
          <p:nvPr/>
        </p:nvSpPr>
        <p:spPr>
          <a:xfrm>
            <a:off x="731520" y="1371600"/>
            <a:ext cx="10698480" cy="548640"/>
          </a:xfrm>
          <a:prstGeom prst="rect">
            <a:avLst/>
          </a:prstGeom>
          <a:noFill/>
        </p:spPr>
        <p:txBody>
          <a:bodyPr wrap="none">
            <a:spAutoFit/>
          </a:bodyPr>
          <a:lstStyle/>
          <a:p>
            <a:pPr>
              <a:defRPr sz="1500">
                <a:solidFill>
                  <a:srgbClr val="C8C8C8"/>
                </a:solidFill>
                <a:latin typeface="Calibri"/>
              </a:defRPr>
            </a:pPr>
            <a:r>
              <a:t>Mapeamos el camino del usuario desde el impacto digital hasta el piso de venta físico bajo metodologías Privacy-First sin rastreo invasivo.</a:t>
            </a:r>
          </a:p>
        </p:txBody>
      </p:sp>
      <p:sp>
        <p:nvSpPr>
          <p:cNvPr id="5" name="Rounded Rectangle 4"/>
          <p:cNvSpPr/>
          <p:nvPr/>
        </p:nvSpPr>
        <p:spPr>
          <a:xfrm>
            <a:off x="731520" y="2194560"/>
            <a:ext cx="1920240" cy="3840480"/>
          </a:xfrm>
          <a:prstGeom prst="roundRect">
            <a:avLst/>
          </a:prstGeom>
          <a:solidFill>
            <a:srgbClr val="2D0047"/>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FF4DB8"/>
                </a:solidFill>
                <a:latin typeface="Consolas"/>
              </a:defRPr>
            </a:pPr>
            <a:r>
              <a:t>Fase 01</a:t>
            </a:r>
          </a:p>
          <a:p>
            <a:pPr>
              <a:spcBef>
                <a:spcPts val="600"/>
              </a:spcBef>
              <a:spcAft>
                <a:spcPts val="1000"/>
              </a:spcAft>
              <a:defRPr sz="1600" b="1">
                <a:solidFill>
                  <a:srgbClr val="FFFFFF"/>
                </a:solidFill>
                <a:latin typeface="Arial"/>
              </a:defRPr>
            </a:pPr>
            <a:r>
              <a:t>Target con IA</a:t>
            </a:r>
          </a:p>
          <a:p>
            <a:pPr>
              <a:lnSpc>
                <a:spcPct val="120000"/>
              </a:lnSpc>
              <a:defRPr sz="1150">
                <a:solidFill>
                  <a:srgbClr val="D2D2D2"/>
                </a:solidFill>
                <a:latin typeface="Calibri"/>
              </a:defRPr>
            </a:pPr>
            <a:r>
              <a:t>Modelado del Buyer Persona en Geo-Graph™ para delimitar geoframes en zonas de influencia directa de las tiendas.</a:t>
            </a:r>
          </a:p>
        </p:txBody>
      </p:sp>
      <p:sp>
        <p:nvSpPr>
          <p:cNvPr id="6" name="Rounded Rectangle 5"/>
          <p:cNvSpPr/>
          <p:nvPr/>
        </p:nvSpPr>
        <p:spPr>
          <a:xfrm>
            <a:off x="2926080" y="2194560"/>
            <a:ext cx="1920240" cy="3840480"/>
          </a:xfrm>
          <a:prstGeom prst="roundRect">
            <a:avLst/>
          </a:prstGeom>
          <a:solidFill>
            <a:srgbClr val="2D0047"/>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FF4DB8"/>
                </a:solidFill>
                <a:latin typeface="Consolas"/>
              </a:defRPr>
            </a:pPr>
            <a:r>
              <a:t>Fase 02</a:t>
            </a:r>
          </a:p>
          <a:p>
            <a:pPr>
              <a:spcBef>
                <a:spcPts val="600"/>
              </a:spcBef>
              <a:spcAft>
                <a:spcPts val="1000"/>
              </a:spcAft>
              <a:defRPr sz="1600" b="1">
                <a:solidFill>
                  <a:srgbClr val="FFFFFF"/>
                </a:solidFill>
                <a:latin typeface="Arial"/>
              </a:defRPr>
            </a:pPr>
            <a:r>
              <a:t>Exposición &amp; MAID</a:t>
            </a:r>
          </a:p>
          <a:p>
            <a:pPr>
              <a:lnSpc>
                <a:spcPct val="120000"/>
              </a:lnSpc>
              <a:defRPr sz="1150">
                <a:solidFill>
                  <a:srgbClr val="D2D2D2"/>
                </a:solidFill>
                <a:latin typeface="Calibri"/>
              </a:defRPr>
            </a:pPr>
            <a:r>
              <a:t>Captura segura y anónima del identificador publicitario (MAID) del usuario que interactúa con la pauta.</a:t>
            </a:r>
          </a:p>
        </p:txBody>
      </p:sp>
      <p:sp>
        <p:nvSpPr>
          <p:cNvPr id="7" name="Rounded Rectangle 6"/>
          <p:cNvSpPr/>
          <p:nvPr/>
        </p:nvSpPr>
        <p:spPr>
          <a:xfrm>
            <a:off x="5120640" y="2194560"/>
            <a:ext cx="1920240" cy="3840480"/>
          </a:xfrm>
          <a:prstGeom prst="roundRect">
            <a:avLst/>
          </a:prstGeom>
          <a:solidFill>
            <a:srgbClr val="2D0047"/>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FF4DB8"/>
                </a:solidFill>
                <a:latin typeface="Consolas"/>
              </a:defRPr>
            </a:pPr>
            <a:r>
              <a:t>Fase 03</a:t>
            </a:r>
          </a:p>
          <a:p>
            <a:pPr>
              <a:spcBef>
                <a:spcPts val="600"/>
              </a:spcBef>
              <a:spcAft>
                <a:spcPts val="1000"/>
              </a:spcAft>
              <a:defRPr sz="1600" b="1">
                <a:solidFill>
                  <a:srgbClr val="FFFFFF"/>
                </a:solidFill>
                <a:latin typeface="Arial"/>
              </a:defRPr>
            </a:pPr>
            <a:r>
              <a:t>Incentivo</a:t>
            </a:r>
          </a:p>
          <a:p>
            <a:pPr>
              <a:lnSpc>
                <a:spcPct val="120000"/>
              </a:lnSpc>
              <a:defRPr sz="1150">
                <a:solidFill>
                  <a:srgbClr val="D2D2D2"/>
                </a:solidFill>
                <a:latin typeface="Calibri"/>
              </a:defRPr>
            </a:pPr>
            <a:r>
              <a:t>El creativo despliega un código QR de beneficio exclusivo en tienda para incentivar el traslado y la compra física.</a:t>
            </a:r>
          </a:p>
        </p:txBody>
      </p:sp>
      <p:sp>
        <p:nvSpPr>
          <p:cNvPr id="8" name="Rounded Rectangle 7"/>
          <p:cNvSpPr/>
          <p:nvPr/>
        </p:nvSpPr>
        <p:spPr>
          <a:xfrm>
            <a:off x="7315200" y="2194560"/>
            <a:ext cx="1920240" cy="3840480"/>
          </a:xfrm>
          <a:prstGeom prst="roundRect">
            <a:avLst/>
          </a:prstGeom>
          <a:solidFill>
            <a:srgbClr val="120818"/>
          </a:solidFill>
          <a:ln w="31750">
            <a:solidFill>
              <a:srgbClr val="E8006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FF4DB8"/>
                </a:solidFill>
                <a:latin typeface="Consolas"/>
              </a:defRPr>
            </a:pPr>
            <a:r>
              <a:t>Fase 04</a:t>
            </a:r>
          </a:p>
          <a:p>
            <a:pPr>
              <a:spcBef>
                <a:spcPts val="600"/>
              </a:spcBef>
              <a:spcAft>
                <a:spcPts val="1000"/>
              </a:spcAft>
              <a:defRPr sz="1600" b="1">
                <a:solidFill>
                  <a:srgbClr val="FFFFFF"/>
                </a:solidFill>
                <a:latin typeface="Arial"/>
              </a:defRPr>
            </a:pPr>
            <a:r>
              <a:t>Geofencing</a:t>
            </a:r>
          </a:p>
          <a:p>
            <a:pPr>
              <a:lnSpc>
                <a:spcPct val="120000"/>
              </a:lnSpc>
              <a:defRPr sz="1150">
                <a:solidFill>
                  <a:srgbClr val="D2D2D2"/>
                </a:solidFill>
                <a:latin typeface="Calibri"/>
              </a:defRPr>
            </a:pPr>
            <a:r>
              <a:t>Detección automatizada cuando el dispositivo del usuario cruza el perímetro arquitectónico virtual de la tienda.</a:t>
            </a:r>
          </a:p>
        </p:txBody>
      </p:sp>
      <p:sp>
        <p:nvSpPr>
          <p:cNvPr id="9" name="Rounded Rectangle 8"/>
          <p:cNvSpPr/>
          <p:nvPr/>
        </p:nvSpPr>
        <p:spPr>
          <a:xfrm>
            <a:off x="9509760" y="2194560"/>
            <a:ext cx="1920240" cy="3840480"/>
          </a:xfrm>
          <a:prstGeom prst="roundRect">
            <a:avLst/>
          </a:prstGeom>
          <a:solidFill>
            <a:srgbClr val="2D0047"/>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FF4DB8"/>
                </a:solidFill>
                <a:latin typeface="Consolas"/>
              </a:defRPr>
            </a:pPr>
            <a:r>
              <a:t>Fase 05</a:t>
            </a:r>
          </a:p>
          <a:p>
            <a:pPr>
              <a:spcBef>
                <a:spcPts val="600"/>
              </a:spcBef>
              <a:spcAft>
                <a:spcPts val="1000"/>
              </a:spcAft>
              <a:defRPr sz="1600" b="1">
                <a:solidFill>
                  <a:srgbClr val="FFFFFF"/>
                </a:solidFill>
                <a:latin typeface="Arial"/>
              </a:defRPr>
            </a:pPr>
            <a:r>
              <a:t>Dwell Time</a:t>
            </a:r>
          </a:p>
          <a:p>
            <a:pPr>
              <a:lnSpc>
                <a:spcPct val="120000"/>
              </a:lnSpc>
              <a:defRPr sz="1150">
                <a:solidFill>
                  <a:srgbClr val="D2D2D2"/>
                </a:solidFill>
                <a:latin typeface="Calibri"/>
              </a:defRPr>
            </a:pPr>
            <a:r>
              <a:t>Depuración de datos mediante tiempos de permanencia para excluir empleados, personal de staff o tráfico de paso.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0818"/>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E8006A"/>
                </a:solidFill>
                <a:latin typeface="Consolas"/>
              </a:defRPr>
            </a:pPr>
            <a:r>
              <a:t>04 · PASO 1: PERFILAMIENTO Y SELECCIÓN</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FFFFFF"/>
                </a:solidFill>
                <a:latin typeface="Arial"/>
              </a:defRPr>
            </a:pPr>
            <a:r>
              <a:t>IA Geo-Graph™: Encontramos a tu Buyer Persona.</a:t>
            </a:r>
          </a:p>
        </p:txBody>
      </p:sp>
      <p:sp>
        <p:nvSpPr>
          <p:cNvPr id="4" name="Oval 3"/>
          <p:cNvSpPr/>
          <p:nvPr/>
        </p:nvSpPr>
        <p:spPr>
          <a:xfrm>
            <a:off x="457200" y="1828800"/>
            <a:ext cx="4572000" cy="4572000"/>
          </a:xfrm>
          <a:prstGeom prst="ellipse">
            <a:avLst/>
          </a:prstGeom>
          <a:noFill/>
          <a:ln w="19050">
            <a:solidFill>
              <a:srgbClr val="FF4DB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71600" y="2743200"/>
            <a:ext cx="2743200" cy="2743200"/>
          </a:xfrm>
          <a:prstGeom prst="ellipse">
            <a:avLst/>
          </a:prstGeom>
          <a:solidFill>
            <a:srgbClr val="2D0047"/>
          </a:solidFill>
          <a:ln w="25400">
            <a:solidFill>
              <a:srgbClr val="E800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77440" y="3749039"/>
            <a:ext cx="731520" cy="731520"/>
          </a:xfrm>
          <a:prstGeom prst="ellipse">
            <a:avLst/>
          </a:prstGeom>
          <a:solidFill>
            <a:srgbClr val="FF4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0" y="1645920"/>
            <a:ext cx="5486400" cy="4114800"/>
          </a:xfrm>
          <a:prstGeom prst="rect">
            <a:avLst/>
          </a:prstGeom>
          <a:noFill/>
        </p:spPr>
        <p:txBody>
          <a:bodyPr wrap="square">
            <a:spAutoFit/>
          </a:bodyPr>
          <a:lstStyle/>
          <a:p>
            <a:pPr>
              <a:spcAft>
                <a:spcPts val="600"/>
              </a:spcAft>
              <a:defRPr sz="1100" b="1">
                <a:solidFill>
                  <a:srgbClr val="FF4DB8"/>
                </a:solidFill>
                <a:latin typeface="Consolas"/>
              </a:defRPr>
            </a:pPr>
            <a:r>
              <a:t>REGLA DE ORIGEN Y SEGMENTACIÓN</a:t>
            </a:r>
          </a:p>
          <a:p>
            <a:pPr>
              <a:spcAft>
                <a:spcPts val="1600"/>
              </a:spcAft>
              <a:defRPr sz="1300">
                <a:solidFill>
                  <a:srgbClr val="DCDCDC"/>
                </a:solidFill>
                <a:latin typeface="Calibri"/>
              </a:defRPr>
            </a:pPr>
            <a:r>
              <a:t>Filtro de Audiencia Premium</a:t>
            </a:r>
            <a:br/>
            <a:r>
              <a:t>Segmentamos por demográficos exactos, hábitos de consumo en cosmética de alta gama, cuidado de la piel y búsquedas de estilo de vida premium en México.</a:t>
            </a:r>
          </a:p>
          <a:p>
            <a:pPr>
              <a:spcAft>
                <a:spcPts val="600"/>
              </a:spcAft>
              <a:defRPr sz="1100" b="1">
                <a:solidFill>
                  <a:srgbClr val="FF4DB8"/>
                </a:solidFill>
                <a:latin typeface="Consolas"/>
              </a:defRPr>
            </a:pPr>
            <a:r>
              <a:t>FOCO QUIRÚRGICO DE CERCANÍA</a:t>
            </a:r>
          </a:p>
          <a:p>
            <a:pPr>
              <a:spcAft>
                <a:spcPts val="2000"/>
              </a:spcAft>
              <a:defRPr sz="1300">
                <a:solidFill>
                  <a:srgbClr val="DCDCDC"/>
                </a:solidFill>
                <a:latin typeface="Calibri"/>
              </a:defRPr>
            </a:pPr>
            <a:r>
              <a:t>Geoframes de Influencia Directa</a:t>
            </a:r>
            <a:br/>
            <a:r>
              <a:t>La pauta se despliega exclusivamente en el área de influencia de las sucursales participantes, garantizando que el usuario tenga alta probabilidad física de traslado.</a:t>
            </a:r>
          </a:p>
          <a:p>
            <a:pPr>
              <a:defRPr sz="1150" i="1">
                <a:solidFill>
                  <a:srgbClr val="A0A0A0"/>
                </a:solidFill>
                <a:latin typeface="Calibri"/>
              </a:defRPr>
            </a:pPr>
            <a:r>
              <a:t>Modelado Privacy-First que cumple estrictamente con la LFPDPPP en México y los estándares globales cookieless.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C40059"/>
                </a:solidFill>
                <a:latin typeface="Consolas"/>
              </a:defRPr>
            </a:pPr>
            <a:r>
              <a:t>05 · PASOS 2 Y 3: CAPTURA Y CATALIZADOR</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1A0E26"/>
                </a:solidFill>
                <a:latin typeface="Arial"/>
              </a:defRPr>
            </a:pPr>
            <a:r>
              <a:t>De la exposición calificada al incentivo en tienda.</a:t>
            </a:r>
          </a:p>
        </p:txBody>
      </p:sp>
      <p:sp>
        <p:nvSpPr>
          <p:cNvPr id="4" name="Rounded Rectangle 3"/>
          <p:cNvSpPr/>
          <p:nvPr/>
        </p:nvSpPr>
        <p:spPr>
          <a:xfrm>
            <a:off x="731520" y="1645920"/>
            <a:ext cx="5120640" cy="4114800"/>
          </a:xfrm>
          <a:prstGeom prst="roundRect">
            <a:avLst/>
          </a:prstGeom>
          <a:solidFill>
            <a:srgbClr val="FFFFFF"/>
          </a:solidFill>
          <a:ln w="19050">
            <a:solidFill>
              <a:srgbClr val="C40059"/>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000"/>
              </a:spcAft>
              <a:defRPr sz="1100" b="1">
                <a:solidFill>
                  <a:srgbClr val="C40059"/>
                </a:solidFill>
                <a:latin typeface="Consolas"/>
              </a:defRPr>
            </a:pPr>
            <a:r>
              <a:t>PASO 2 — EXPOSICIÓN CALIFICADA</a:t>
            </a:r>
          </a:p>
          <a:p>
            <a:pPr>
              <a:spcAft>
                <a:spcPts val="1600"/>
              </a:spcAft>
              <a:defRPr sz="2200" b="1">
                <a:solidFill>
                  <a:srgbClr val="1A0E26"/>
                </a:solidFill>
                <a:latin typeface="Arial"/>
              </a:defRPr>
            </a:pPr>
            <a:r>
              <a:t>Captura Segura de MAID</a:t>
            </a:r>
          </a:p>
          <a:p>
            <a:pPr>
              <a:lnSpc>
                <a:spcPct val="130000"/>
              </a:lnSpc>
              <a:defRPr sz="1400">
                <a:solidFill>
                  <a:srgbClr val="4A3D57"/>
                </a:solidFill>
                <a:latin typeface="Calibri"/>
              </a:defRPr>
            </a:pPr>
            <a:r>
              <a:t>Al interactuar con los formatos Attention+ u OLV, el DSP registra de forma segura y anónima el identificador publicitario móvil (MAID). Esto nos permite identificar de manera unívoca a los dispositivos expuestos directamente a la campaña, sirviendo como el punto de partida real para medir el journey.</a:t>
            </a:r>
          </a:p>
        </p:txBody>
      </p:sp>
      <p:sp>
        <p:nvSpPr>
          <p:cNvPr id="5" name="Rounded Rectangle 4"/>
          <p:cNvSpPr/>
          <p:nvPr/>
        </p:nvSpPr>
        <p:spPr>
          <a:xfrm>
            <a:off x="6309360" y="1645920"/>
            <a:ext cx="5120640" cy="4114800"/>
          </a:xfrm>
          <a:prstGeom prst="roundRect">
            <a:avLst/>
          </a:prstGeom>
          <a:solidFill>
            <a:srgbClr val="FFFFFF"/>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000"/>
              </a:spcAft>
              <a:defRPr sz="1100" b="1">
                <a:solidFill>
                  <a:srgbClr val="FF4DB8"/>
                </a:solidFill>
                <a:latin typeface="Consolas"/>
              </a:defRPr>
            </a:pPr>
            <a:r>
              <a:t>PASO 3 — CATALIZADOR OFFLINE</a:t>
            </a:r>
          </a:p>
          <a:p>
            <a:pPr>
              <a:spcAft>
                <a:spcPts val="1600"/>
              </a:spcAft>
              <a:defRPr sz="2200" b="1">
                <a:solidFill>
                  <a:srgbClr val="1A0E26"/>
                </a:solidFill>
                <a:latin typeface="Arial"/>
              </a:defRPr>
            </a:pPr>
            <a:r>
              <a:t>Incentivo de Redención</a:t>
            </a:r>
          </a:p>
          <a:p>
            <a:pPr>
              <a:lnSpc>
                <a:spcPct val="130000"/>
              </a:lnSpc>
              <a:defRPr sz="1400">
                <a:solidFill>
                  <a:srgbClr val="4A3D57"/>
                </a:solidFill>
                <a:latin typeface="Calibri"/>
              </a:defRPr>
            </a:pPr>
            <a:r>
              <a:t>La pieza creativa despliega un llamado a la acción interactivo claro con un beneficio exclusivo en tienda física: 'Presenta este código en caja, realiza una compra mínima de $500 MXN y recibe un obsequio'. Esto actúa como el catalizador del journey offline.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0818"/>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E8006A"/>
                </a:solidFill>
                <a:latin typeface="Consolas"/>
              </a:defRPr>
            </a:pPr>
            <a:r>
              <a:t>06 · PASOS 4 Y 5: ATRIBUCIÓN Y FILTROS</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FFFFFF"/>
                </a:solidFill>
                <a:latin typeface="Arial"/>
              </a:defRPr>
            </a:pPr>
            <a:r>
              <a:t>Medición exacta en pasillo y depuración de lecturas falsas.</a:t>
            </a:r>
          </a:p>
        </p:txBody>
      </p:sp>
      <p:sp>
        <p:nvSpPr>
          <p:cNvPr id="4" name="Rounded Rectangle 3"/>
          <p:cNvSpPr/>
          <p:nvPr/>
        </p:nvSpPr>
        <p:spPr>
          <a:xfrm>
            <a:off x="731520" y="1645920"/>
            <a:ext cx="5120640" cy="2011680"/>
          </a:xfrm>
          <a:prstGeom prst="roundRect">
            <a:avLst/>
          </a:prstGeom>
          <a:solidFill>
            <a:srgbClr val="2D0047"/>
          </a:solidFill>
          <a:ln w="19050">
            <a:solidFill>
              <a:srgbClr val="E8006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000" b="1">
                <a:solidFill>
                  <a:srgbClr val="E8006A"/>
                </a:solidFill>
                <a:latin typeface="Consolas"/>
              </a:defRPr>
            </a:pPr>
            <a:r>
              <a:t>PASO 4 · GEOFENCING POLIGONAL</a:t>
            </a:r>
          </a:p>
          <a:p>
            <a:pPr>
              <a:spcBef>
                <a:spcPts val="400"/>
              </a:spcBef>
              <a:spcAft>
                <a:spcPts val="600"/>
              </a:spcAft>
              <a:defRPr sz="1600" b="1">
                <a:solidFill>
                  <a:srgbClr val="FFFFFF"/>
                </a:solidFill>
                <a:latin typeface="Arial"/>
              </a:defRPr>
            </a:pPr>
            <a:r>
              <a:t>Trazado de Precisión Arquitectónica</a:t>
            </a:r>
          </a:p>
          <a:p>
            <a:pPr>
              <a:defRPr sz="1150">
                <a:solidFill>
                  <a:srgbClr val="D2D2D2"/>
                </a:solidFill>
                <a:latin typeface="Calibri"/>
              </a:defRPr>
            </a:pPr>
            <a:r>
              <a:t>Construimos un perímetro virtual exacto sobre los límites físicos de la tienda Ulta Beauty, descartando los pasillos de la plaza.</a:t>
            </a:r>
          </a:p>
        </p:txBody>
      </p:sp>
      <p:sp>
        <p:nvSpPr>
          <p:cNvPr id="5" name="Rounded Rectangle 4"/>
          <p:cNvSpPr/>
          <p:nvPr/>
        </p:nvSpPr>
        <p:spPr>
          <a:xfrm>
            <a:off x="6309360" y="1645920"/>
            <a:ext cx="5120640" cy="2011680"/>
          </a:xfrm>
          <a:prstGeom prst="roundRect">
            <a:avLst/>
          </a:prstGeom>
          <a:solidFill>
            <a:srgbClr val="2D0047"/>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000" b="1">
                <a:solidFill>
                  <a:srgbClr val="FF4DB8"/>
                </a:solidFill>
                <a:latin typeface="Consolas"/>
              </a:defRPr>
            </a:pPr>
            <a:r>
              <a:t>PASO 5 · FILTRO DE PERMANENCIA</a:t>
            </a:r>
          </a:p>
          <a:p>
            <a:pPr>
              <a:spcBef>
                <a:spcPts val="400"/>
              </a:spcBef>
              <a:spcAft>
                <a:spcPts val="600"/>
              </a:spcAft>
              <a:defRPr sz="1600" b="1">
                <a:solidFill>
                  <a:srgbClr val="FFFFFF"/>
                </a:solidFill>
                <a:latin typeface="Arial"/>
              </a:defRPr>
            </a:pPr>
            <a:r>
              <a:t>Reglas de Dwell Time Automatizadas</a:t>
            </a:r>
          </a:p>
          <a:p>
            <a:pPr>
              <a:defRPr sz="1150">
                <a:solidFill>
                  <a:srgbClr val="D2D2D2"/>
                </a:solidFill>
                <a:latin typeface="Calibri"/>
              </a:defRPr>
            </a:pPr>
            <a:r>
              <a:t>Analizamos el tiempo que los dispositivos expuestos permanecen dentro del polígono para filtrar datos espurios y entregar visitas reales.</a:t>
            </a:r>
          </a:p>
        </p:txBody>
      </p:sp>
      <p:sp>
        <p:nvSpPr>
          <p:cNvPr id="6" name="Rounded Rectangle 5"/>
          <p:cNvSpPr/>
          <p:nvPr/>
        </p:nvSpPr>
        <p:spPr>
          <a:xfrm>
            <a:off x="731520" y="3931920"/>
            <a:ext cx="10698480" cy="2377440"/>
          </a:xfrm>
          <a:prstGeom prst="roundRect">
            <a:avLst/>
          </a:prstGeom>
          <a:solidFill>
            <a:srgbClr val="120818"/>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spcAft>
                <a:spcPts val="1000"/>
              </a:spcAft>
              <a:defRPr sz="1800" b="1">
                <a:solidFill>
                  <a:srgbClr val="FF4DB8"/>
                </a:solidFill>
                <a:latin typeface="Arial"/>
              </a:defRPr>
            </a:pPr>
            <a:r>
              <a:t>Criterios de Depuración de Datos:</a:t>
            </a:r>
          </a:p>
          <a:p>
            <a:pPr>
              <a:lnSpc>
                <a:spcPct val="130000"/>
              </a:lnSpc>
              <a:defRPr sz="1300">
                <a:solidFill>
                  <a:srgbClr val="FFFFFF"/>
                </a:solidFill>
                <a:latin typeface="Calibri"/>
              </a:defRPr>
            </a:pPr>
            <a:r>
              <a:t>• Exclusión de Staff (&gt;45 minutos): Dispositivos con permanencia excesiva o presencia diaria recurrente se catalogan como empleados y se descartan.</a:t>
            </a:r>
            <a:br/>
            <a:r>
              <a:t>• Exclusión de Paso (&lt;10 minutos): Usuarios caminando rápido por los pasillos aledaños de la plaza se descartan para evitar contaminación.</a:t>
            </a:r>
            <a:br/>
            <a:r>
              <a:t>• Visita Confirmada (10 a 45 minutos): Únicamente se contabiliza al usuario target expuesto que permanezca en este rango dentro del perímetro de Ulta Beauty.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0818"/>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E8006A"/>
                </a:solidFill>
                <a:latin typeface="Consolas"/>
              </a:defRPr>
            </a:pPr>
            <a:r>
              <a:t>07 · RETARGETING DE FRECUENCIA</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FFFFFF"/>
                </a:solidFill>
                <a:latin typeface="Arial"/>
              </a:defRPr>
            </a:pPr>
            <a:r>
              <a:t>Frecuencia Continua: Capturar Oportunidades Perdidas.</a:t>
            </a:r>
          </a:p>
        </p:txBody>
      </p:sp>
      <p:sp>
        <p:nvSpPr>
          <p:cNvPr id="4" name="TextBox 3"/>
          <p:cNvSpPr txBox="1"/>
          <p:nvPr/>
        </p:nvSpPr>
        <p:spPr>
          <a:xfrm>
            <a:off x="731520" y="1645920"/>
            <a:ext cx="5486400" cy="4572000"/>
          </a:xfrm>
          <a:prstGeom prst="rect">
            <a:avLst/>
          </a:prstGeom>
          <a:noFill/>
        </p:spPr>
        <p:txBody>
          <a:bodyPr wrap="square">
            <a:spAutoFit/>
          </a:bodyPr>
          <a:lstStyle/>
          <a:p>
            <a:pPr>
              <a:spcBef>
                <a:spcPts val="0"/>
              </a:spcBef>
              <a:defRPr sz="1050" b="1">
                <a:solidFill>
                  <a:srgbClr val="FF4DB8"/>
                </a:solidFill>
                <a:latin typeface="Consolas"/>
              </a:defRPr>
            </a:pPr>
            <a:r>
              <a:t>FASE 1 · EXPOSICIÓN INICIAL</a:t>
            </a:r>
          </a:p>
          <a:p>
            <a:pPr>
              <a:spcBef>
                <a:spcPts val="400"/>
              </a:spcBef>
              <a:defRPr sz="1300">
                <a:solidFill>
                  <a:srgbClr val="D2D2D2"/>
                </a:solidFill>
                <a:latin typeface="Calibri"/>
              </a:defRPr>
            </a:pPr>
            <a:r>
              <a:t>El usuario ve la pauta de Attention+ o OLV mientras se encuentra en el radio de influencia.</a:t>
            </a:r>
          </a:p>
          <a:p>
            <a:pPr>
              <a:spcBef>
                <a:spcPts val="1200"/>
              </a:spcBef>
              <a:defRPr sz="1050" b="1">
                <a:solidFill>
                  <a:srgbClr val="FF4DB8"/>
                </a:solidFill>
                <a:latin typeface="Consolas"/>
              </a:defRPr>
            </a:pPr>
            <a:r>
              <a:t>FASE 2 · CALIBRACIÓN TEMPORAL</a:t>
            </a:r>
          </a:p>
          <a:p>
            <a:pPr>
              <a:spcBef>
                <a:spcPts val="400"/>
              </a:spcBef>
              <a:defRPr sz="1300">
                <a:solidFill>
                  <a:srgbClr val="D2D2D2"/>
                </a:solidFill>
                <a:latin typeface="Calibri"/>
              </a:defRPr>
            </a:pPr>
            <a:r>
              <a:t>Monitoreamos si el dispositivo (MAID) entra al polígono. Si no asiste en 48-72 hrs, entra al pool de retargeting.</a:t>
            </a:r>
          </a:p>
          <a:p>
            <a:pPr>
              <a:spcBef>
                <a:spcPts val="1200"/>
              </a:spcBef>
              <a:defRPr sz="1050" b="1">
                <a:solidFill>
                  <a:srgbClr val="FF4DB8"/>
                </a:solidFill>
                <a:latin typeface="Consolas"/>
              </a:defRPr>
            </a:pPr>
            <a:r>
              <a:t>FASE 3 · RE-IMPACTO DINÁMICO</a:t>
            </a:r>
          </a:p>
          <a:p>
            <a:pPr>
              <a:spcBef>
                <a:spcPts val="400"/>
              </a:spcBef>
              <a:defRPr sz="1300">
                <a:solidFill>
                  <a:srgbClr val="D2D2D2"/>
                </a:solidFill>
                <a:latin typeface="Calibri"/>
              </a:defRPr>
            </a:pPr>
            <a:r>
              <a:t>Anuncio de refuerzo recordando la vigencia del obsequio o mostrando el Store Locator con el mapa de indicaciones.</a:t>
            </a:r>
          </a:p>
        </p:txBody>
      </p:sp>
      <p:sp>
        <p:nvSpPr>
          <p:cNvPr id="5" name="Rounded Rectangle 4"/>
          <p:cNvSpPr/>
          <p:nvPr/>
        </p:nvSpPr>
        <p:spPr>
          <a:xfrm>
            <a:off x="6766560" y="1645920"/>
            <a:ext cx="4663440" cy="4114800"/>
          </a:xfrm>
          <a:prstGeom prst="roundRect">
            <a:avLst/>
          </a:prstGeom>
          <a:solidFill>
            <a:srgbClr val="2D0047"/>
          </a:solidFill>
          <a:ln w="19050">
            <a:solidFill>
              <a:srgbClr val="FF4DB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600"/>
              </a:spcAft>
              <a:defRPr sz="2000" b="1">
                <a:solidFill>
                  <a:srgbClr val="FFFFFF"/>
                </a:solidFill>
                <a:latin typeface="Arial"/>
              </a:defRPr>
            </a:pPr>
            <a:r>
              <a:t>El re-impacto oportuno multiplica la conversión offline.</a:t>
            </a:r>
          </a:p>
          <a:p>
            <a:pPr>
              <a:lnSpc>
                <a:spcPct val="130000"/>
              </a:lnSpc>
              <a:spcAft>
                <a:spcPts val="2000"/>
              </a:spcAft>
              <a:defRPr sz="1350">
                <a:solidFill>
                  <a:srgbClr val="DCDCDC"/>
                </a:solidFill>
                <a:latin typeface="Calibri"/>
              </a:defRPr>
            </a:pPr>
            <a:r>
              <a:t>Un solo impacto publicitario se olvida rápidamente. Automatizar la frecuencia del mensaje en un ciclo cerrado de 72 horas con indicaciones geográficas y el incentivo de redención incrementa exponencialmente el ROI de la campaña.</a:t>
            </a:r>
          </a:p>
          <a:p>
            <a:pPr>
              <a:defRPr sz="1050" b="1">
                <a:solidFill>
                  <a:srgbClr val="FF4DB8"/>
                </a:solidFill>
                <a:latin typeface="Consolas"/>
              </a:defRPr>
            </a:pPr>
            <a:r>
              <a:t>Conversión en Caja = Exposición + Incentivo + Frecuencia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C40059"/>
                </a:solidFill>
                <a:latin typeface="Consolas"/>
              </a:defRPr>
            </a:pPr>
            <a:r>
              <a:t>08 · ATRIBUCIÓN SEMANAL</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1A0E26"/>
                </a:solidFill>
                <a:latin typeface="Arial"/>
              </a:defRPr>
            </a:pPr>
            <a:r>
              <a:t>Embudo de Medición Semanal y Reporte los Lunes.</a:t>
            </a:r>
          </a:p>
        </p:txBody>
      </p:sp>
      <p:sp>
        <p:nvSpPr>
          <p:cNvPr id="4" name="TextBox 3"/>
          <p:cNvSpPr txBox="1"/>
          <p:nvPr/>
        </p:nvSpPr>
        <p:spPr>
          <a:xfrm>
            <a:off x="731520" y="1280160"/>
            <a:ext cx="10698480" cy="457200"/>
          </a:xfrm>
          <a:prstGeom prst="rect">
            <a:avLst/>
          </a:prstGeom>
          <a:noFill/>
        </p:spPr>
        <p:txBody>
          <a:bodyPr wrap="none">
            <a:spAutoFit/>
          </a:bodyPr>
          <a:lstStyle/>
          <a:p>
            <a:pPr>
              <a:defRPr sz="1400">
                <a:solidFill>
                  <a:srgbClr val="4A3D57"/>
                </a:solidFill>
                <a:latin typeface="Calibri"/>
              </a:defRPr>
            </a:pPr>
            <a:r>
              <a:t>Medimos señales reales de exposición, interés e intención digital junto al tráfico físico incremental. La redención la validas tú en caja.</a:t>
            </a:r>
          </a:p>
        </p:txBody>
      </p:sp>
      <p:graphicFrame>
        <p:nvGraphicFramePr>
          <p:cNvPr id="5" name="Table 4"/>
          <p:cNvGraphicFramePr>
            <a:graphicFrameLocks noGrp="1"/>
          </p:cNvGraphicFramePr>
          <p:nvPr/>
        </p:nvGraphicFramePr>
        <p:xfrm>
          <a:off x="731520" y="1828800"/>
          <a:ext cx="10698480" cy="2926080"/>
        </p:xfrm>
        <a:graphic>
          <a:graphicData uri="http://schemas.openxmlformats.org/drawingml/2006/table">
            <a:tbl>
              <a:tblPr firstRow="1" bandRow="1">
                <a:tableStyleId>{5C22544A-7EE6-4342-B048-85BDC9FD1C3A}</a:tableStyleId>
              </a:tblPr>
              <a:tblGrid>
                <a:gridCol w="2011680"/>
                <a:gridCol w="5486400"/>
                <a:gridCol w="3200400"/>
              </a:tblGrid>
              <a:tr h="487680">
                <a:tc>
                  <a:txBody>
                    <a:bodyPr/>
                    <a:lstStyle/>
                    <a:p>
                      <a:pPr algn="l">
                        <a:defRPr sz="1100" b="1">
                          <a:solidFill>
                            <a:srgbClr val="FFFFFF"/>
                          </a:solidFill>
                          <a:latin typeface="Arial"/>
                        </a:defRPr>
                      </a:pPr>
                      <a:r>
                        <a:t>Etapa del Funnel</a:t>
                      </a:r>
                    </a:p>
                  </a:txBody>
                  <a:tcPr>
                    <a:solidFill>
                      <a:srgbClr val="120818"/>
                    </a:solidFill>
                  </a:tcPr>
                </a:tc>
                <a:tc>
                  <a:txBody>
                    <a:bodyPr/>
                    <a:lstStyle/>
                    <a:p>
                      <a:pPr algn="l">
                        <a:defRPr sz="1100" b="1">
                          <a:solidFill>
                            <a:srgbClr val="FFFFFF"/>
                          </a:solidFill>
                          <a:latin typeface="Arial"/>
                        </a:defRPr>
                      </a:pPr>
                      <a:r>
                        <a:t>Métrica Clave</a:t>
                      </a:r>
                    </a:p>
                  </a:txBody>
                  <a:tcPr>
                    <a:solidFill>
                      <a:srgbClr val="120818"/>
                    </a:solidFill>
                  </a:tcPr>
                </a:tc>
                <a:tc>
                  <a:txBody>
                    <a:bodyPr/>
                    <a:lstStyle/>
                    <a:p>
                      <a:pPr algn="l">
                        <a:defRPr sz="1100" b="1">
                          <a:solidFill>
                            <a:srgbClr val="FFFFFF"/>
                          </a:solidFill>
                          <a:latin typeface="Arial"/>
                        </a:defRPr>
                      </a:pPr>
                      <a:r>
                        <a:t>Fuente de Atribución</a:t>
                      </a:r>
                    </a:p>
                  </a:txBody>
                  <a:tcPr>
                    <a:solidFill>
                      <a:srgbClr val="120818"/>
                    </a:solidFill>
                  </a:tcPr>
                </a:tc>
              </a:tr>
              <a:tr h="487680">
                <a:tc>
                  <a:txBody>
                    <a:bodyPr/>
                    <a:lstStyle/>
                    <a:p>
                      <a:pPr>
                        <a:defRPr sz="1200" b="1">
                          <a:solidFill>
                            <a:srgbClr val="C40059"/>
                          </a:solidFill>
                          <a:latin typeface="Calibri"/>
                        </a:defRPr>
                      </a:pPr>
                      <a:r>
                        <a:t>01. Exposición</a:t>
                      </a:r>
                    </a:p>
                  </a:txBody>
                  <a:tcPr>
                    <a:solidFill>
                      <a:srgbClr val="FFFFFF"/>
                    </a:solidFill>
                  </a:tcPr>
                </a:tc>
                <a:tc>
                  <a:txBody>
                    <a:bodyPr/>
                    <a:lstStyle/>
                    <a:p>
                      <a:pPr>
                        <a:defRPr sz="1200">
                          <a:solidFill>
                            <a:srgbClr val="1A0E26"/>
                          </a:solidFill>
                          <a:latin typeface="Calibri"/>
                        </a:defRPr>
                      </a:pPr>
                      <a:r>
                        <a:t>Impresiones servidas por formato, creativo y centro comercial</a:t>
                      </a:r>
                    </a:p>
                  </a:txBody>
                  <a:tcPr>
                    <a:solidFill>
                      <a:srgbClr val="FFFFFF"/>
                    </a:solidFill>
                  </a:tcPr>
                </a:tc>
                <a:tc>
                  <a:txBody>
                    <a:bodyPr/>
                    <a:lstStyle/>
                    <a:p>
                      <a:pPr>
                        <a:defRPr sz="1200">
                          <a:solidFill>
                            <a:srgbClr val="1A0E26"/>
                          </a:solidFill>
                          <a:latin typeface="Calibri"/>
                        </a:defRPr>
                      </a:pPr>
                      <a:r>
                        <a:t>Plataforma DSP (Medido)</a:t>
                      </a:r>
                    </a:p>
                  </a:txBody>
                  <a:tcPr>
                    <a:solidFill>
                      <a:srgbClr val="FFFFFF"/>
                    </a:solidFill>
                  </a:tcPr>
                </a:tc>
              </a:tr>
              <a:tr h="487680">
                <a:tc>
                  <a:txBody>
                    <a:bodyPr/>
                    <a:lstStyle/>
                    <a:p>
                      <a:pPr>
                        <a:defRPr sz="1200" b="1">
                          <a:solidFill>
                            <a:srgbClr val="C40059"/>
                          </a:solidFill>
                          <a:latin typeface="Calibri"/>
                        </a:defRPr>
                      </a:pPr>
                      <a:r>
                        <a:t>02. Interés</a:t>
                      </a:r>
                    </a:p>
                  </a:txBody>
                  <a:tcPr>
                    <a:solidFill>
                      <a:srgbClr val="FFFFFF"/>
                    </a:solidFill>
                  </a:tcPr>
                </a:tc>
                <a:tc>
                  <a:txBody>
                    <a:bodyPr/>
                    <a:lstStyle/>
                    <a:p>
                      <a:pPr>
                        <a:defRPr sz="1200">
                          <a:solidFill>
                            <a:srgbClr val="1A0E26"/>
                          </a:solidFill>
                          <a:latin typeface="Calibri"/>
                        </a:defRPr>
                      </a:pPr>
                      <a:r>
                        <a:t>CTR (Click-Through Rate) global + VCR (Video Completion Rate)</a:t>
                      </a:r>
                    </a:p>
                  </a:txBody>
                  <a:tcPr>
                    <a:solidFill>
                      <a:srgbClr val="FFFFFF"/>
                    </a:solidFill>
                  </a:tcPr>
                </a:tc>
                <a:tc>
                  <a:txBody>
                    <a:bodyPr/>
                    <a:lstStyle/>
                    <a:p>
                      <a:pPr>
                        <a:defRPr sz="1200">
                          <a:solidFill>
                            <a:srgbClr val="1A0E26"/>
                          </a:solidFill>
                          <a:latin typeface="Calibri"/>
                        </a:defRPr>
                      </a:pPr>
                      <a:r>
                        <a:t>Plataforma DSP (Medido)</a:t>
                      </a:r>
                    </a:p>
                  </a:txBody>
                  <a:tcPr>
                    <a:solidFill>
                      <a:srgbClr val="FFFFFF"/>
                    </a:solidFill>
                  </a:tcPr>
                </a:tc>
              </a:tr>
              <a:tr h="487680">
                <a:tc>
                  <a:txBody>
                    <a:bodyPr/>
                    <a:lstStyle/>
                    <a:p>
                      <a:pPr>
                        <a:defRPr sz="1200" b="1">
                          <a:solidFill>
                            <a:srgbClr val="C40059"/>
                          </a:solidFill>
                          <a:latin typeface="Calibri"/>
                        </a:defRPr>
                      </a:pPr>
                      <a:r>
                        <a:t>03. Intención</a:t>
                      </a:r>
                    </a:p>
                  </a:txBody>
                  <a:tcPr>
                    <a:solidFill>
                      <a:srgbClr val="FFFFFF"/>
                    </a:solidFill>
                  </a:tcPr>
                </a:tc>
                <a:tc>
                  <a:txBody>
                    <a:bodyPr/>
                    <a:lstStyle/>
                    <a:p>
                      <a:pPr>
                        <a:defRPr sz="1200">
                          <a:solidFill>
                            <a:srgbClr val="1A0E26"/>
                          </a:solidFill>
                          <a:latin typeface="Calibri"/>
                        </a:defRPr>
                      </a:pPr>
                      <a:r>
                        <a:t>Clics a Store Locator, mapas o descarga del código QR</a:t>
                      </a:r>
                    </a:p>
                  </a:txBody>
                  <a:tcPr>
                    <a:solidFill>
                      <a:srgbClr val="FFFFFF"/>
                    </a:solidFill>
                  </a:tcPr>
                </a:tc>
                <a:tc>
                  <a:txBody>
                    <a:bodyPr/>
                    <a:lstStyle/>
                    <a:p>
                      <a:pPr>
                        <a:defRPr sz="1200">
                          <a:solidFill>
                            <a:srgbClr val="1A0E26"/>
                          </a:solidFill>
                          <a:latin typeface="Calibri"/>
                        </a:defRPr>
                      </a:pPr>
                      <a:r>
                        <a:t>Pixel de Medición (Medido)</a:t>
                      </a:r>
                    </a:p>
                  </a:txBody>
                  <a:tcPr>
                    <a:solidFill>
                      <a:srgbClr val="FFFFFF"/>
                    </a:solidFill>
                  </a:tcPr>
                </a:tc>
              </a:tr>
              <a:tr h="487680">
                <a:tc>
                  <a:txBody>
                    <a:bodyPr/>
                    <a:lstStyle/>
                    <a:p>
                      <a:pPr>
                        <a:defRPr sz="1200" b="1">
                          <a:solidFill>
                            <a:srgbClr val="C40059"/>
                          </a:solidFill>
                          <a:latin typeface="Calibri"/>
                        </a:defRPr>
                      </a:pPr>
                      <a:r>
                        <a:t>04. Cruce Físico</a:t>
                      </a:r>
                    </a:p>
                  </a:txBody>
                  <a:tcPr>
                    <a:solidFill>
                      <a:srgbClr val="FFFFFF"/>
                    </a:solidFill>
                  </a:tcPr>
                </a:tc>
                <a:tc>
                  <a:txBody>
                    <a:bodyPr/>
                    <a:lstStyle/>
                    <a:p>
                      <a:pPr>
                        <a:defRPr sz="1200">
                          <a:solidFill>
                            <a:srgbClr val="1A0E26"/>
                          </a:solidFill>
                          <a:latin typeface="Calibri"/>
                        </a:defRPr>
                      </a:pPr>
                      <a:r>
                        <a:t>Dispositivos únicos expuestos detectados en tienda (10 a 45 min)</a:t>
                      </a:r>
                    </a:p>
                  </a:txBody>
                  <a:tcPr>
                    <a:solidFill>
                      <a:srgbClr val="FFFFFF"/>
                    </a:solidFill>
                  </a:tcPr>
                </a:tc>
                <a:tc>
                  <a:txBody>
                    <a:bodyPr/>
                    <a:lstStyle/>
                    <a:p>
                      <a:pPr>
                        <a:defRPr sz="1200">
                          <a:solidFill>
                            <a:srgbClr val="1A0E26"/>
                          </a:solidFill>
                          <a:latin typeface="Calibri"/>
                        </a:defRPr>
                      </a:pPr>
                      <a:r>
                        <a:t>Geofencing Poligonal (Medido)</a:t>
                      </a:r>
                    </a:p>
                  </a:txBody>
                  <a:tcPr>
                    <a:solidFill>
                      <a:srgbClr val="FFFFFF"/>
                    </a:solidFill>
                  </a:tcPr>
                </a:tc>
              </a:tr>
              <a:tr h="487680">
                <a:tc>
                  <a:txBody>
                    <a:bodyPr/>
                    <a:lstStyle/>
                    <a:p>
                      <a:pPr>
                        <a:defRPr sz="1200" b="1">
                          <a:solidFill>
                            <a:srgbClr val="C40059"/>
                          </a:solidFill>
                          <a:latin typeface="Calibri"/>
                        </a:defRPr>
                      </a:pPr>
                      <a:r>
                        <a:t>05. Compra (Redención)</a:t>
                      </a:r>
                    </a:p>
                  </a:txBody>
                  <a:tcPr>
                    <a:solidFill>
                      <a:srgbClr val="FFFFFF"/>
                    </a:solidFill>
                  </a:tcPr>
                </a:tc>
                <a:tc>
                  <a:txBody>
                    <a:bodyPr/>
                    <a:lstStyle/>
                    <a:p>
                      <a:pPr>
                        <a:defRPr sz="1200">
                          <a:solidFill>
                            <a:srgbClr val="1A0E26"/>
                          </a:solidFill>
                          <a:latin typeface="Calibri"/>
                        </a:defRPr>
                      </a:pPr>
                      <a:r>
                        <a:t>Cruce del código QR presentado físicamente contra tickets en caja</a:t>
                      </a:r>
                    </a:p>
                  </a:txBody>
                  <a:tcPr>
                    <a:solidFill>
                      <a:srgbClr val="FFFFFF"/>
                    </a:solidFill>
                  </a:tcPr>
                </a:tc>
                <a:tc>
                  <a:txBody>
                    <a:bodyPr/>
                    <a:lstStyle/>
                    <a:p>
                      <a:pPr>
                        <a:defRPr sz="1200">
                          <a:solidFill>
                            <a:srgbClr val="1A0E26"/>
                          </a:solidFill>
                          <a:latin typeface="Calibri"/>
                        </a:defRPr>
                      </a:pPr>
                      <a:r>
                        <a:t>Reporte de Ventas de Ulta (No medido)</a:t>
                      </a:r>
                    </a:p>
                  </a:txBody>
                  <a:tcPr>
                    <a:solidFill>
                      <a:srgbClr val="FFFFFF"/>
                    </a:solidFill>
                  </a:tcPr>
                </a:tc>
              </a:tr>
            </a:tbl>
          </a:graphicData>
        </a:graphic>
      </p:graphicFrame>
      <p:sp>
        <p:nvSpPr>
          <p:cNvPr id="6" name="Rounded Rectangle 5"/>
          <p:cNvSpPr/>
          <p:nvPr/>
        </p:nvSpPr>
        <p:spPr>
          <a:xfrm>
            <a:off x="731520" y="4937760"/>
            <a:ext cx="10698480" cy="1371600"/>
          </a:xfrm>
          <a:prstGeom prst="roundRect">
            <a:avLst/>
          </a:prstGeom>
          <a:solidFill>
            <a:srgbClr val="FFFFFF"/>
          </a:solidFill>
          <a:ln w="19050">
            <a:solidFill>
              <a:srgbClr val="C4005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lnSpc>
                <a:spcPct val="125000"/>
              </a:lnSpc>
              <a:defRPr sz="1250">
                <a:solidFill>
                  <a:srgbClr val="4A3D57"/>
                </a:solidFill>
                <a:latin typeface="Calibri"/>
              </a:defRPr>
            </a:pPr>
            <a:r>
              <a:t>Nosotros medimos hasta la visita; tú confirmas la compra. Cada lunes te entregamos el reporte agregando las cohortes de dispositivos móviles (MAIDs) que visitaron tus sucursales. Cruzando este dato contra la redención del cupón exclusivo, mides la rentabilidad real de la pauta.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0818"/>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E8006A"/>
                </a:solidFill>
                <a:latin typeface="Consolas"/>
              </a:defRPr>
            </a:pPr>
            <a:r>
              <a:t>09 · NEXT STEPS</a:t>
            </a:r>
          </a:p>
        </p:txBody>
      </p:sp>
      <p:sp>
        <p:nvSpPr>
          <p:cNvPr id="3" name="TextBox 2"/>
          <p:cNvSpPr txBox="1"/>
          <p:nvPr/>
        </p:nvSpPr>
        <p:spPr>
          <a:xfrm>
            <a:off x="731520" y="731520"/>
            <a:ext cx="10698480" cy="914400"/>
          </a:xfrm>
          <a:prstGeom prst="rect">
            <a:avLst/>
          </a:prstGeom>
          <a:noFill/>
        </p:spPr>
        <p:txBody>
          <a:bodyPr wrap="square" lIns="0" rIns="0" tIns="0" bIns="0">
            <a:spAutoFit/>
          </a:bodyPr>
          <a:lstStyle/>
          <a:p>
            <a:pPr>
              <a:defRPr sz="2800" b="1">
                <a:solidFill>
                  <a:srgbClr val="FFFFFF"/>
                </a:solidFill>
                <a:latin typeface="Arial"/>
              </a:defRPr>
            </a:pPr>
            <a:r>
              <a:t>Lanzamiento táctico en 3 pasos.</a:t>
            </a:r>
          </a:p>
        </p:txBody>
      </p:sp>
      <p:sp>
        <p:nvSpPr>
          <p:cNvPr id="4" name="Rounded Rectangle 3"/>
          <p:cNvSpPr/>
          <p:nvPr/>
        </p:nvSpPr>
        <p:spPr>
          <a:xfrm>
            <a:off x="731520" y="1645920"/>
            <a:ext cx="3328416" cy="2743200"/>
          </a:xfrm>
          <a:prstGeom prst="roundRect">
            <a:avLst/>
          </a:prstGeom>
          <a:solidFill>
            <a:srgbClr val="2D0047"/>
          </a:solidFill>
          <a:ln w="19050">
            <a:solidFill>
              <a:srgbClr val="E8006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800" b="1">
                <a:solidFill>
                  <a:srgbClr val="FF4DB8"/>
                </a:solidFill>
                <a:latin typeface="Arial Black"/>
              </a:defRPr>
            </a:pPr>
            <a:r>
              <a:t>1</a:t>
            </a:r>
          </a:p>
          <a:p>
            <a:pPr>
              <a:spcBef>
                <a:spcPts val="400"/>
              </a:spcBef>
              <a:spcAft>
                <a:spcPts val="800"/>
              </a:spcAft>
              <a:defRPr sz="1600" b="1">
                <a:solidFill>
                  <a:srgbClr val="FFFFFF"/>
                </a:solidFill>
                <a:latin typeface="Arial"/>
              </a:defRPr>
            </a:pPr>
            <a:r>
              <a:t>Sesión de Set-Up · 60 min</a:t>
            </a:r>
          </a:p>
          <a:p>
            <a:pPr>
              <a:defRPr sz="1200">
                <a:solidFill>
                  <a:srgbClr val="D2D2D2"/>
                </a:solidFill>
                <a:latin typeface="Calibri"/>
              </a:defRPr>
            </a:pPr>
            <a:r>
              <a:t>Alineamos las 3 plazas seleccionadas por Ulta, el calendario de pauta y los parámetros del Buyer Persona en la IA Geo-Graph™.</a:t>
            </a:r>
          </a:p>
        </p:txBody>
      </p:sp>
      <p:sp>
        <p:nvSpPr>
          <p:cNvPr id="5" name="Rounded Rectangle 4"/>
          <p:cNvSpPr/>
          <p:nvPr/>
        </p:nvSpPr>
        <p:spPr>
          <a:xfrm>
            <a:off x="4425696" y="1645920"/>
            <a:ext cx="3328416" cy="2743200"/>
          </a:xfrm>
          <a:prstGeom prst="roundRect">
            <a:avLst/>
          </a:prstGeom>
          <a:solidFill>
            <a:srgbClr val="2D0047"/>
          </a:solidFill>
          <a:ln w="19050">
            <a:solidFill>
              <a:srgbClr val="E8006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800" b="1">
                <a:solidFill>
                  <a:srgbClr val="FF4DB8"/>
                </a:solidFill>
                <a:latin typeface="Arial Black"/>
              </a:defRPr>
            </a:pPr>
            <a:r>
              <a:t>2</a:t>
            </a:r>
          </a:p>
          <a:p>
            <a:pPr>
              <a:spcBef>
                <a:spcPts val="400"/>
              </a:spcBef>
              <a:spcAft>
                <a:spcPts val="800"/>
              </a:spcAft>
              <a:defRPr sz="1600" b="1">
                <a:solidFill>
                  <a:srgbClr val="FFFFFF"/>
                </a:solidFill>
                <a:latin typeface="Arial"/>
              </a:defRPr>
            </a:pPr>
            <a:r>
              <a:t>Intercambio de Activos</a:t>
            </a:r>
          </a:p>
          <a:p>
            <a:pPr>
              <a:defRPr sz="1200">
                <a:solidFill>
                  <a:srgbClr val="D2D2D2"/>
                </a:solidFill>
                <a:latin typeface="Calibri"/>
              </a:defRPr>
            </a:pPr>
            <a:r>
              <a:t>Carga de creativos para los formatos Attention+ u OLV, URLs de destino y parametrización de cupones/códigos QR.</a:t>
            </a:r>
          </a:p>
        </p:txBody>
      </p:sp>
      <p:sp>
        <p:nvSpPr>
          <p:cNvPr id="6" name="Rounded Rectangle 5"/>
          <p:cNvSpPr/>
          <p:nvPr/>
        </p:nvSpPr>
        <p:spPr>
          <a:xfrm>
            <a:off x="8119872" y="1645920"/>
            <a:ext cx="3328416" cy="2743200"/>
          </a:xfrm>
          <a:prstGeom prst="roundRect">
            <a:avLst/>
          </a:prstGeom>
          <a:solidFill>
            <a:srgbClr val="2D0047"/>
          </a:solidFill>
          <a:ln w="19050">
            <a:solidFill>
              <a:srgbClr val="E8006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2800" b="1">
                <a:solidFill>
                  <a:srgbClr val="FF4DB8"/>
                </a:solidFill>
                <a:latin typeface="Arial Black"/>
              </a:defRPr>
            </a:pPr>
            <a:r>
              <a:t>3</a:t>
            </a:r>
          </a:p>
          <a:p>
            <a:pPr>
              <a:spcBef>
                <a:spcPts val="400"/>
              </a:spcBef>
              <a:spcAft>
                <a:spcPts val="800"/>
              </a:spcAft>
              <a:defRPr sz="1600" b="1">
                <a:solidFill>
                  <a:srgbClr val="FFFFFF"/>
                </a:solidFill>
                <a:latin typeface="Arial"/>
              </a:defRPr>
            </a:pPr>
            <a:r>
              <a:t>Lanzamiento y Calibración</a:t>
            </a:r>
          </a:p>
          <a:p>
            <a:pPr>
              <a:defRPr sz="1200">
                <a:solidFill>
                  <a:srgbClr val="D2D2D2"/>
                </a:solidFill>
                <a:latin typeface="Calibri"/>
              </a:defRPr>
            </a:pPr>
            <a:r>
              <a:t>Go-live de la campaña con optimización automatizada del algoritmo de geofencing en tiempo real.</a:t>
            </a:r>
          </a:p>
        </p:txBody>
      </p:sp>
      <p:sp>
        <p:nvSpPr>
          <p:cNvPr id="7" name="TextBox 6"/>
          <p:cNvSpPr txBox="1"/>
          <p:nvPr/>
        </p:nvSpPr>
        <p:spPr>
          <a:xfrm>
            <a:off x="731520" y="4572000"/>
            <a:ext cx="10698480" cy="2011680"/>
          </a:xfrm>
          <a:prstGeom prst="rect">
            <a:avLst/>
          </a:prstGeom>
          <a:noFill/>
        </p:spPr>
        <p:txBody>
          <a:bodyPr wrap="square">
            <a:spAutoFit/>
          </a:bodyPr>
          <a:lstStyle/>
          <a:p>
            <a:pPr>
              <a:spcAft>
                <a:spcPts val="1200"/>
              </a:spcAft>
              <a:defRPr sz="1400">
                <a:solidFill>
                  <a:srgbClr val="FFFFFF"/>
                </a:solidFill>
                <a:latin typeface="Calibri"/>
              </a:defRPr>
            </a:pPr>
            <a:r>
              <a:t>No trabajamos en base a promesas de alcance inflado. Corremos una prueba piloto de cuatro semanas en las 3 ubicaciones elegidas, leemos las visitas reales en tienda y cruzas la data con tus tickets en caja para validar el ROI.</a:t>
            </a:r>
          </a:p>
          <a:p>
            <a:pPr>
              <a:spcAft>
                <a:spcPts val="800"/>
              </a:spcAft>
              <a:defRPr sz="1200" b="1">
                <a:solidFill>
                  <a:srgbClr val="FF4DB8"/>
                </a:solidFill>
                <a:latin typeface="Consolas"/>
              </a:defRPr>
            </a:pPr>
            <a:r>
              <a:t>Contacto: Alberto Espinosa · CEO &amp; CCO · alberto@bemassive.mx</a:t>
            </a:r>
          </a:p>
          <a:p>
            <a:pPr>
              <a:defRPr sz="1200" i="1">
                <a:solidFill>
                  <a:srgbClr val="A0A0A0"/>
                </a:solidFill>
                <a:latin typeface="Calibri"/>
              </a:defRPr>
            </a:pPr>
            <a:r>
              <a:t>Sin métricas vanidosas. Rastreamos la atribución real desde el primer impacto digital hasta la caja registradora de Ulta Beauty.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